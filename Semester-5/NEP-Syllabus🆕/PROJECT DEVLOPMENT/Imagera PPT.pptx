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3" r:id="rId17"/>
    <p:sldId id="284" r:id="rId18"/>
    <p:sldId id="285" r:id="rId19"/>
    <p:sldId id="271" r:id="rId20"/>
    <p:sldId id="272" r:id="rId21"/>
    <p:sldId id="273" r:id="rId22"/>
    <p:sldId id="274" r:id="rId23"/>
    <p:sldId id="275" r:id="rId24"/>
    <p:sldId id="286" r:id="rId25"/>
    <p:sldId id="287" r:id="rId26"/>
    <p:sldId id="276" r:id="rId27"/>
    <p:sldId id="277" r:id="rId28"/>
    <p:sldId id="278" r:id="rId29"/>
    <p:sldId id="28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886DA6-39D1-42A4-A5CC-F5329CA2AC2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ta" id="{503AC8D5-244B-488C-8698-021F389E8422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83"/>
            <p14:sldId id="284"/>
            <p14:sldId id="285"/>
            <p14:sldId id="271"/>
            <p14:sldId id="272"/>
            <p14:sldId id="273"/>
            <p14:sldId id="274"/>
            <p14:sldId id="275"/>
            <p14:sldId id="286"/>
            <p14:sldId id="287"/>
            <p14:sldId id="276"/>
            <p14:sldId id="277"/>
            <p14:sldId id="278"/>
            <p14:sldId id="288"/>
            <p14:sldId id="279"/>
            <p14:sldId id="280"/>
          </p14:sldIdLst>
        </p14:section>
        <p14:section name="END" id="{D5A64033-48D7-4842-9027-1ABCFE7A7ACC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7589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837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689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338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17875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4886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235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2986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3311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771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7692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94C105D-AC81-42E9-9F8E-2D388B08BAF5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25206D3-F31B-4FF3-B91F-989F5F072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DDE383-B940-B710-2A74-62B14117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" y="0"/>
            <a:ext cx="4826833" cy="6858000"/>
          </a:xfrm>
          <a:prstGeom prst="rect">
            <a:avLst/>
          </a:prstGeom>
        </p:spPr>
      </p:pic>
      <p:pic>
        <p:nvPicPr>
          <p:cNvPr id="6" name="Google Shape;61;p13">
            <a:extLst>
              <a:ext uri="{FF2B5EF4-FFF2-40B4-BE49-F238E27FC236}">
                <a16:creationId xmlns:a16="http://schemas.microsoft.com/office/drawing/2014/main" id="{FE2D28FF-9329-97F9-F6B3-036E3D9EC0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807" y="182773"/>
            <a:ext cx="1617365" cy="1621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48EC8-8346-1090-174C-A179D35F8FF6}"/>
              </a:ext>
            </a:extLst>
          </p:cNvPr>
          <p:cNvSpPr txBox="1"/>
          <p:nvPr/>
        </p:nvSpPr>
        <p:spPr>
          <a:xfrm>
            <a:off x="7022889" y="191874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A Project Report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D73D6-5E3D-5392-2D95-666F8EBEB3B2}"/>
              </a:ext>
            </a:extLst>
          </p:cNvPr>
          <p:cNvSpPr txBox="1"/>
          <p:nvPr/>
        </p:nvSpPr>
        <p:spPr>
          <a:xfrm>
            <a:off x="5786202" y="2379689"/>
            <a:ext cx="55463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 err="1">
                <a:latin typeface="Arial Black" panose="020B0A04020102020204" pitchFamily="34" charset="0"/>
              </a:rPr>
              <a:t>Imagera</a:t>
            </a:r>
            <a:r>
              <a:rPr lang="en-US" sz="2800" dirty="0">
                <a:latin typeface="Arial Black" panose="020B0A04020102020204" pitchFamily="34" charset="0"/>
              </a:rPr>
              <a:t> – A Modern Image Sharing Web-Application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A6C22-5276-56CD-5D23-F1663ED5E608}"/>
              </a:ext>
            </a:extLst>
          </p:cNvPr>
          <p:cNvSpPr txBox="1"/>
          <p:nvPr/>
        </p:nvSpPr>
        <p:spPr>
          <a:xfrm>
            <a:off x="5921728" y="3397026"/>
            <a:ext cx="47723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Creative Platform for Uploading, Saving </a:t>
            </a:r>
          </a:p>
          <a:p>
            <a:r>
              <a:rPr lang="en-US" b="1" dirty="0"/>
              <a:t>                  &amp; Discovering Images</a:t>
            </a:r>
            <a:endParaRPr lang="en-US" dirty="0"/>
          </a:p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A4AB3-F7C4-0684-C76E-EFB7850CDE56}"/>
              </a:ext>
            </a:extLst>
          </p:cNvPr>
          <p:cNvSpPr txBox="1"/>
          <p:nvPr/>
        </p:nvSpPr>
        <p:spPr>
          <a:xfrm>
            <a:off x="5146894" y="4571999"/>
            <a:ext cx="37519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GROUP MEMBERS:</a:t>
            </a:r>
          </a:p>
          <a:p>
            <a:r>
              <a:rPr lang="en-US" sz="1400" b="1" dirty="0"/>
              <a:t>      CHAUHAN HITARTH (EXAM NO: ---)</a:t>
            </a:r>
          </a:p>
          <a:p>
            <a:r>
              <a:rPr lang="en-US" sz="1400" b="1" dirty="0"/>
              <a:t>      SAVLANI DHIREN (EXAM NO: ---)</a:t>
            </a:r>
            <a:r>
              <a:rPr lang="en-US" sz="1400" dirty="0"/>
              <a:t>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3F23B-015B-5A4B-2667-77DE731A82F1}"/>
              </a:ext>
            </a:extLst>
          </p:cNvPr>
          <p:cNvSpPr txBox="1"/>
          <p:nvPr/>
        </p:nvSpPr>
        <p:spPr>
          <a:xfrm>
            <a:off x="9284076" y="4571999"/>
            <a:ext cx="2521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GUIDE:</a:t>
            </a:r>
          </a:p>
          <a:p>
            <a:r>
              <a:rPr lang="en-US" sz="1400" b="1" dirty="0"/>
              <a:t>   RASHMIKABEN MEMON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6071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112CB32-2579-95F7-8A49-A61E9B0C7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71803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27536F53-B650-523D-4539-8C59758D2197}"/>
              </a:ext>
            </a:extLst>
          </p:cNvPr>
          <p:cNvSpPr/>
          <p:nvPr/>
        </p:nvSpPr>
        <p:spPr>
          <a:xfrm>
            <a:off x="6296303" y="2998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Introduction</a:t>
            </a:r>
            <a:endParaRPr lang="en-US" sz="36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A4398-3A76-A06E-84AC-2F67FB6F450B}"/>
              </a:ext>
            </a:extLst>
          </p:cNvPr>
          <p:cNvSpPr txBox="1"/>
          <p:nvPr/>
        </p:nvSpPr>
        <p:spPr>
          <a:xfrm>
            <a:off x="5201587" y="974361"/>
            <a:ext cx="65956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nconsolata" pitchFamily="1" charset="0"/>
                <a:ea typeface="Inconsolata" pitchFamily="1" charset="0"/>
              </a:rPr>
              <a:t>Imagera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is a modern, web-based image sharing platform that allow users to upload, explore </a:t>
            </a:r>
            <a:r>
              <a:rPr lang="en-US" sz="1400" dirty="0" err="1">
                <a:latin typeface="Inconsolata" pitchFamily="1" charset="0"/>
                <a:ea typeface="Inconsolata" pitchFamily="1" charset="0"/>
              </a:rPr>
              <a:t>ans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save visual content across various categories. Designed with a user-friendly interface and real-time responsiveness, </a:t>
            </a:r>
            <a:r>
              <a:rPr lang="en-US" sz="1400" dirty="0" err="1">
                <a:latin typeface="Inconsolata" pitchFamily="1" charset="0"/>
                <a:ea typeface="Inconsolata" pitchFamily="1" charset="0"/>
              </a:rPr>
              <a:t>Imagera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enables users to express creativity and discover inspiration from others in a seamless and interactive environment.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61EE65-2326-5D5F-6736-5C23B34318F4}"/>
              </a:ext>
            </a:extLst>
          </p:cNvPr>
          <p:cNvSpPr/>
          <p:nvPr/>
        </p:nvSpPr>
        <p:spPr>
          <a:xfrm>
            <a:off x="5321508" y="2308485"/>
            <a:ext cx="6265889" cy="88442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9A375-7435-86CB-A4CA-353BF68A70DD}"/>
              </a:ext>
            </a:extLst>
          </p:cNvPr>
          <p:cNvSpPr/>
          <p:nvPr/>
        </p:nvSpPr>
        <p:spPr>
          <a:xfrm>
            <a:off x="5321507" y="3374967"/>
            <a:ext cx="6265889" cy="88442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1DCA5-FDA8-C163-CEBA-9D8802DEE129}"/>
              </a:ext>
            </a:extLst>
          </p:cNvPr>
          <p:cNvSpPr/>
          <p:nvPr/>
        </p:nvSpPr>
        <p:spPr>
          <a:xfrm>
            <a:off x="5321506" y="4458619"/>
            <a:ext cx="6265889" cy="88442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92D3D8-E00D-D5D0-B318-FF4B4415A565}"/>
              </a:ext>
            </a:extLst>
          </p:cNvPr>
          <p:cNvSpPr/>
          <p:nvPr/>
        </p:nvSpPr>
        <p:spPr>
          <a:xfrm>
            <a:off x="5321505" y="5542271"/>
            <a:ext cx="6265889" cy="106648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70DF4-9C75-3B86-AC07-2F2D94682DB1}"/>
              </a:ext>
            </a:extLst>
          </p:cNvPr>
          <p:cNvSpPr txBox="1"/>
          <p:nvPr/>
        </p:nvSpPr>
        <p:spPr>
          <a:xfrm>
            <a:off x="5423227" y="2378013"/>
            <a:ext cx="2009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Image Sharing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3CD49-A820-B3C9-2C5C-51181CB2A381}"/>
              </a:ext>
            </a:extLst>
          </p:cNvPr>
          <p:cNvSpPr txBox="1"/>
          <p:nvPr/>
        </p:nvSpPr>
        <p:spPr>
          <a:xfrm>
            <a:off x="5423227" y="2747345"/>
            <a:ext cx="619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Upload High-Quality images with titles, description and categories.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B1A91-3156-C88C-3C02-207BA97C3110}"/>
              </a:ext>
            </a:extLst>
          </p:cNvPr>
          <p:cNvSpPr txBox="1"/>
          <p:nvPr/>
        </p:nvSpPr>
        <p:spPr>
          <a:xfrm>
            <a:off x="5423227" y="3447099"/>
            <a:ext cx="2552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Save and Like Pins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89616-E3ED-05E9-4B60-C0967B064C86}"/>
              </a:ext>
            </a:extLst>
          </p:cNvPr>
          <p:cNvSpPr txBox="1"/>
          <p:nvPr/>
        </p:nvSpPr>
        <p:spPr>
          <a:xfrm>
            <a:off x="5423227" y="3816431"/>
            <a:ext cx="5480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Easily Save and like pins you enjoy to revisit them later.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8B143-31CF-C024-48E4-1A38598E3D99}"/>
              </a:ext>
            </a:extLst>
          </p:cNvPr>
          <p:cNvSpPr txBox="1"/>
          <p:nvPr/>
        </p:nvSpPr>
        <p:spPr>
          <a:xfrm>
            <a:off x="5423227" y="4900829"/>
            <a:ext cx="4942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Engage with posts through direct comments &amp; feedback.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74591-9B43-B6D6-3B6B-AA08D048A1B2}"/>
              </a:ext>
            </a:extLst>
          </p:cNvPr>
          <p:cNvSpPr txBox="1"/>
          <p:nvPr/>
        </p:nvSpPr>
        <p:spPr>
          <a:xfrm>
            <a:off x="5423228" y="5984481"/>
            <a:ext cx="6029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Access your content anywhere with mobile-friendly layout and dark-mode support.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208C5-9B00-A484-0464-C4C95BD2CC42}"/>
              </a:ext>
            </a:extLst>
          </p:cNvPr>
          <p:cNvSpPr txBox="1"/>
          <p:nvPr/>
        </p:nvSpPr>
        <p:spPr>
          <a:xfrm>
            <a:off x="5423227" y="4508268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Commenting System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7280A-4C90-B3EB-FC0B-9336D23907B4}"/>
              </a:ext>
            </a:extLst>
          </p:cNvPr>
          <p:cNvSpPr txBox="1"/>
          <p:nvPr/>
        </p:nvSpPr>
        <p:spPr>
          <a:xfrm>
            <a:off x="5423227" y="5597979"/>
            <a:ext cx="4411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Responsive &amp; Dark Mode Support</a:t>
            </a:r>
          </a:p>
        </p:txBody>
      </p:sp>
    </p:spTree>
    <p:extLst>
      <p:ext uri="{BB962C8B-B14F-4D97-AF65-F5344CB8AC3E}">
        <p14:creationId xmlns:p14="http://schemas.microsoft.com/office/powerpoint/2010/main" val="39730873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D78323-6511-92EA-75C0-7D7666A45A64}"/>
              </a:ext>
            </a:extLst>
          </p:cNvPr>
          <p:cNvSpPr txBox="1"/>
          <p:nvPr/>
        </p:nvSpPr>
        <p:spPr>
          <a:xfrm>
            <a:off x="4961554" y="284813"/>
            <a:ext cx="2268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Objectives</a:t>
            </a:r>
          </a:p>
        </p:txBody>
      </p:sp>
      <p:pic>
        <p:nvPicPr>
          <p:cNvPr id="1026" name="Picture 2" descr="Check mark, Wingdings font, character code 254 decimal.">
            <a:extLst>
              <a:ext uri="{FF2B5EF4-FFF2-40B4-BE49-F238E27FC236}">
                <a16:creationId xmlns:a16="http://schemas.microsoft.com/office/drawing/2014/main" id="{A4132F4D-8557-DEDE-F38A-6C6CAE336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1160176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heck mark, Wingdings font, character code 254 decimal.">
            <a:extLst>
              <a:ext uri="{FF2B5EF4-FFF2-40B4-BE49-F238E27FC236}">
                <a16:creationId xmlns:a16="http://schemas.microsoft.com/office/drawing/2014/main" id="{D01BA4B5-E352-965F-D159-AED29ABA2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1746682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 mark, Wingdings font, character code 254 decimal.">
            <a:extLst>
              <a:ext uri="{FF2B5EF4-FFF2-40B4-BE49-F238E27FC236}">
                <a16:creationId xmlns:a16="http://schemas.microsoft.com/office/drawing/2014/main" id="{0117B5DE-CA38-574E-5034-74808F369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2337786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mark, Wingdings font, character code 254 decimal.">
            <a:extLst>
              <a:ext uri="{FF2B5EF4-FFF2-40B4-BE49-F238E27FC236}">
                <a16:creationId xmlns:a16="http://schemas.microsoft.com/office/drawing/2014/main" id="{A058BF7A-91DC-C38D-8B6C-2885BDF97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2973931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heck mark, Wingdings font, character code 254 decimal.">
            <a:extLst>
              <a:ext uri="{FF2B5EF4-FFF2-40B4-BE49-F238E27FC236}">
                <a16:creationId xmlns:a16="http://schemas.microsoft.com/office/drawing/2014/main" id="{75727FF1-1BC8-433F-E68C-8A3FFB8E5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3584524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heck mark, Wingdings font, character code 254 decimal.">
            <a:extLst>
              <a:ext uri="{FF2B5EF4-FFF2-40B4-BE49-F238E27FC236}">
                <a16:creationId xmlns:a16="http://schemas.microsoft.com/office/drawing/2014/main" id="{07BD5033-FD38-A892-238E-4D330DF8F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4200682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A45E45-173E-9A5D-A0A1-8D8BEAA49E62}"/>
              </a:ext>
            </a:extLst>
          </p:cNvPr>
          <p:cNvSpPr txBox="1"/>
          <p:nvPr/>
        </p:nvSpPr>
        <p:spPr>
          <a:xfrm>
            <a:off x="2343594" y="1160176"/>
            <a:ext cx="4886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Build a user-friendly image sharing platform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BAB914-85FD-C9FD-3564-46D3AA9F8BB4}"/>
              </a:ext>
            </a:extLst>
          </p:cNvPr>
          <p:cNvSpPr txBox="1"/>
          <p:nvPr/>
        </p:nvSpPr>
        <p:spPr>
          <a:xfrm>
            <a:off x="2343594" y="1746682"/>
            <a:ext cx="5940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Allow users to upload, save, like and interact with pins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ACD9F-9246-FEE4-ED48-75D01A3B27A3}"/>
              </a:ext>
            </a:extLst>
          </p:cNvPr>
          <p:cNvSpPr txBox="1"/>
          <p:nvPr/>
        </p:nvSpPr>
        <p:spPr>
          <a:xfrm>
            <a:off x="2351320" y="2357067"/>
            <a:ext cx="5445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Enable image discovery via categories and 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C0DA5-6B8F-69D0-9080-18D639E23F7B}"/>
              </a:ext>
            </a:extLst>
          </p:cNvPr>
          <p:cNvSpPr txBox="1"/>
          <p:nvPr/>
        </p:nvSpPr>
        <p:spPr>
          <a:xfrm>
            <a:off x="2351320" y="2973931"/>
            <a:ext cx="6110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Support user engagement through comments and likes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5BBEA0-6FDD-BF91-A7CA-A2350EF9C03B}"/>
              </a:ext>
            </a:extLst>
          </p:cNvPr>
          <p:cNvSpPr txBox="1"/>
          <p:nvPr/>
        </p:nvSpPr>
        <p:spPr>
          <a:xfrm>
            <a:off x="2351320" y="3583818"/>
            <a:ext cx="489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Designed for responsiveness and dark mode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4BB33-CE71-24E3-EAD6-FDA671A36688}"/>
              </a:ext>
            </a:extLst>
          </p:cNvPr>
          <p:cNvSpPr txBox="1"/>
          <p:nvPr/>
        </p:nvSpPr>
        <p:spPr>
          <a:xfrm>
            <a:off x="2343594" y="4200682"/>
            <a:ext cx="854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Ensure Scalability for future enhancements like admin dashboard and rewards</a:t>
            </a:r>
          </a:p>
        </p:txBody>
      </p:sp>
      <p:pic>
        <p:nvPicPr>
          <p:cNvPr id="2" name="Picture 2" descr="Check mark, Wingdings font, character code 254 decimal.">
            <a:extLst>
              <a:ext uri="{FF2B5EF4-FFF2-40B4-BE49-F238E27FC236}">
                <a16:creationId xmlns:a16="http://schemas.microsoft.com/office/drawing/2014/main" id="{F41064C5-E385-BB74-8A5F-8884EFBB9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28" y="4816840"/>
            <a:ext cx="454546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93E35-2386-C669-89A1-0601A4ACA0B7}"/>
              </a:ext>
            </a:extLst>
          </p:cNvPr>
          <p:cNvSpPr txBox="1"/>
          <p:nvPr/>
        </p:nvSpPr>
        <p:spPr>
          <a:xfrm>
            <a:off x="2343593" y="4817546"/>
            <a:ext cx="396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Earn Rewards through virtual coins</a:t>
            </a:r>
          </a:p>
        </p:txBody>
      </p:sp>
    </p:spTree>
    <p:extLst>
      <p:ext uri="{BB962C8B-B14F-4D97-AF65-F5344CB8AC3E}">
        <p14:creationId xmlns:p14="http://schemas.microsoft.com/office/powerpoint/2010/main" val="176592981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3F84C38-3277-CFF1-AD5E-309D81247EAC}"/>
              </a:ext>
            </a:extLst>
          </p:cNvPr>
          <p:cNvSpPr/>
          <p:nvPr/>
        </p:nvSpPr>
        <p:spPr>
          <a:xfrm>
            <a:off x="734518" y="1409075"/>
            <a:ext cx="5201587" cy="3357797"/>
          </a:xfrm>
          <a:prstGeom prst="round2DiagRect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BAAFE085-60C4-BD65-5E6D-95DA04DFC21B}"/>
              </a:ext>
            </a:extLst>
          </p:cNvPr>
          <p:cNvSpPr/>
          <p:nvPr/>
        </p:nvSpPr>
        <p:spPr>
          <a:xfrm>
            <a:off x="6310859" y="1409075"/>
            <a:ext cx="4991725" cy="3357797"/>
          </a:xfrm>
          <a:prstGeom prst="round2DiagRect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47980-B1B3-7588-02AA-A5D40C244B42}"/>
              </a:ext>
            </a:extLst>
          </p:cNvPr>
          <p:cNvSpPr txBox="1"/>
          <p:nvPr/>
        </p:nvSpPr>
        <p:spPr>
          <a:xfrm>
            <a:off x="4379985" y="239843"/>
            <a:ext cx="3432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C9BBB-FC4F-ED6C-31A3-15070664D4ED}"/>
              </a:ext>
            </a:extLst>
          </p:cNvPr>
          <p:cNvSpPr txBox="1"/>
          <p:nvPr/>
        </p:nvSpPr>
        <p:spPr>
          <a:xfrm>
            <a:off x="1865540" y="1573983"/>
            <a:ext cx="28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Traditional </a:t>
            </a:r>
            <a:r>
              <a:rPr lang="en-US" dirty="0" err="1">
                <a:latin typeface="Arial Black" panose="020B0A04020102020204" pitchFamily="34" charset="0"/>
              </a:rPr>
              <a:t>Challange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BA6BE-E92C-AE56-8E11-54F63988438F}"/>
              </a:ext>
            </a:extLst>
          </p:cNvPr>
          <p:cNvSpPr txBox="1"/>
          <p:nvPr/>
        </p:nvSpPr>
        <p:spPr>
          <a:xfrm>
            <a:off x="7611163" y="1583567"/>
            <a:ext cx="254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 Black" panose="020B0A04020102020204" pitchFamily="34" charset="0"/>
              </a:rPr>
              <a:t>Imagera’s</a:t>
            </a:r>
            <a:r>
              <a:rPr lang="en-US" dirty="0">
                <a:latin typeface="Arial Black" panose="020B0A04020102020204" pitchFamily="34" charset="0"/>
              </a:rPr>
              <a:t>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00777-821A-4839-2D4F-335A248DF7A6}"/>
              </a:ext>
            </a:extLst>
          </p:cNvPr>
          <p:cNvSpPr txBox="1"/>
          <p:nvPr/>
        </p:nvSpPr>
        <p:spPr>
          <a:xfrm>
            <a:off x="1648918" y="2113613"/>
            <a:ext cx="33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Lack of category-wise filtering and organization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2B08F-52FD-281A-EB54-426C1A612172}"/>
              </a:ext>
            </a:extLst>
          </p:cNvPr>
          <p:cNvSpPr txBox="1"/>
          <p:nvPr/>
        </p:nvSpPr>
        <p:spPr>
          <a:xfrm>
            <a:off x="1643917" y="2636833"/>
            <a:ext cx="3327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Inconsolata" pitchFamily="1" charset="0"/>
                <a:ea typeface="Inconsolata" pitchFamily="1" charset="0"/>
              </a:rPr>
              <a:t>Limites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user engagement in traditional gallery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66C2F-AD08-85EF-A417-3B7C27E2BBAD}"/>
              </a:ext>
            </a:extLst>
          </p:cNvPr>
          <p:cNvSpPr txBox="1"/>
          <p:nvPr/>
        </p:nvSpPr>
        <p:spPr>
          <a:xfrm>
            <a:off x="1643917" y="3160053"/>
            <a:ext cx="33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No real-time interaction like commenting, saving, or dark-mode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5FD5D-B513-D41D-BD1F-B77239148FDA}"/>
              </a:ext>
            </a:extLst>
          </p:cNvPr>
          <p:cNvSpPr txBox="1"/>
          <p:nvPr/>
        </p:nvSpPr>
        <p:spPr>
          <a:xfrm>
            <a:off x="1643916" y="3683273"/>
            <a:ext cx="3327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No admin oversight or content moderation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95631-688A-3650-0151-A44B82943589}"/>
              </a:ext>
            </a:extLst>
          </p:cNvPr>
          <p:cNvSpPr txBox="1"/>
          <p:nvPr/>
        </p:nvSpPr>
        <p:spPr>
          <a:xfrm>
            <a:off x="7057867" y="2113613"/>
            <a:ext cx="3507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nconsolata" pitchFamily="1" charset="0"/>
                <a:ea typeface="Inconsolata" pitchFamily="1" charset="0"/>
              </a:rPr>
              <a:t>Imagera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addresses these challenges by offering a user-friendly, category-based image sharing platform with real-time functionality.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BB6C67-FC91-0F03-F1FC-26CAB25AC171}"/>
              </a:ext>
            </a:extLst>
          </p:cNvPr>
          <p:cNvSpPr txBox="1"/>
          <p:nvPr/>
        </p:nvSpPr>
        <p:spPr>
          <a:xfrm>
            <a:off x="7057867" y="3099126"/>
            <a:ext cx="3490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Allows users to upload, explore, save, like and comment on pins in a dynamic layout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8D726-3AB2-85F1-ABBE-5C21CCA4182E}"/>
              </a:ext>
            </a:extLst>
          </p:cNvPr>
          <p:cNvSpPr txBox="1"/>
          <p:nvPr/>
        </p:nvSpPr>
        <p:spPr>
          <a:xfrm>
            <a:off x="7057868" y="3837790"/>
            <a:ext cx="3490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Admin tools and future enhancements ensure content quality and growth</a:t>
            </a:r>
          </a:p>
        </p:txBody>
      </p:sp>
    </p:spTree>
    <p:extLst>
      <p:ext uri="{BB962C8B-B14F-4D97-AF65-F5344CB8AC3E}">
        <p14:creationId xmlns:p14="http://schemas.microsoft.com/office/powerpoint/2010/main" val="23077316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7ABFBF8-C862-FA5D-BFD1-9025A99F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51834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7BC59D89-6DBF-5F1B-50CA-A2DAA4662A16}"/>
              </a:ext>
            </a:extLst>
          </p:cNvPr>
          <p:cNvSpPr/>
          <p:nvPr/>
        </p:nvSpPr>
        <p:spPr>
          <a:xfrm>
            <a:off x="553948" y="28468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 Users</a:t>
            </a:r>
            <a:endParaRPr lang="en-US" sz="4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0260D8E9-D39D-E328-A6C0-39CCEDDF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8" y="3659318"/>
            <a:ext cx="455482" cy="455482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0EAF4EB0-DF75-41ED-00B0-70544D202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538" y="3655234"/>
            <a:ext cx="459566" cy="4595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D9B164-5676-7846-39E7-1EA58212A1E2}"/>
              </a:ext>
            </a:extLst>
          </p:cNvPr>
          <p:cNvSpPr txBox="1"/>
          <p:nvPr/>
        </p:nvSpPr>
        <p:spPr>
          <a:xfrm>
            <a:off x="519552" y="417476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Admin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0BDCB-648B-0CF8-6F0E-2450CBFA22B8}"/>
              </a:ext>
            </a:extLst>
          </p:cNvPr>
          <p:cNvSpPr txBox="1"/>
          <p:nvPr/>
        </p:nvSpPr>
        <p:spPr>
          <a:xfrm>
            <a:off x="6134598" y="4174760"/>
            <a:ext cx="444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General Users (Creator &amp; Viewer)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CFD41-6E96-5D4B-8D58-7F97C8736457}"/>
              </a:ext>
            </a:extLst>
          </p:cNvPr>
          <p:cNvSpPr txBox="1"/>
          <p:nvPr/>
        </p:nvSpPr>
        <p:spPr>
          <a:xfrm>
            <a:off x="613908" y="4544092"/>
            <a:ext cx="3435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Review and moderate uploaded pins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B152ED-8B18-730C-1DA6-A6F2781583C7}"/>
              </a:ext>
            </a:extLst>
          </p:cNvPr>
          <p:cNvSpPr txBox="1"/>
          <p:nvPr/>
        </p:nvSpPr>
        <p:spPr>
          <a:xfrm>
            <a:off x="611959" y="4851868"/>
            <a:ext cx="2986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Remove inappropriate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A5F133-D86B-46BF-3904-28C6650D3ABC}"/>
              </a:ext>
            </a:extLst>
          </p:cNvPr>
          <p:cNvSpPr txBox="1"/>
          <p:nvPr/>
        </p:nvSpPr>
        <p:spPr>
          <a:xfrm>
            <a:off x="613908" y="5159645"/>
            <a:ext cx="3345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Manage users through admin panel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C1915-6417-E817-0966-B7DEB8AD961B}"/>
              </a:ext>
            </a:extLst>
          </p:cNvPr>
          <p:cNvSpPr txBox="1"/>
          <p:nvPr/>
        </p:nvSpPr>
        <p:spPr>
          <a:xfrm>
            <a:off x="609882" y="5467422"/>
            <a:ext cx="2986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Handle coins/redeem requests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16F39-555C-AEEE-AA9D-0D9F89AD6830}"/>
              </a:ext>
            </a:extLst>
          </p:cNvPr>
          <p:cNvSpPr txBox="1"/>
          <p:nvPr/>
        </p:nvSpPr>
        <p:spPr>
          <a:xfrm>
            <a:off x="6224538" y="4544092"/>
            <a:ext cx="3525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Upload, save and </a:t>
            </a:r>
            <a:r>
              <a:rPr lang="en-US" sz="1400" dirty="0" err="1">
                <a:latin typeface="Inconsolata" pitchFamily="1" charset="0"/>
                <a:ea typeface="Inconsolata" pitchFamily="1" charset="0"/>
              </a:rPr>
              <a:t>browes</a:t>
            </a:r>
            <a:r>
              <a:rPr lang="en-US" sz="1400" dirty="0">
                <a:latin typeface="Inconsolata" pitchFamily="1" charset="0"/>
                <a:ea typeface="Inconsolata" pitchFamily="1" charset="0"/>
              </a:rPr>
              <a:t> image pins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A704D9-B8C7-C4FA-58CF-079CACF16E7C}"/>
              </a:ext>
            </a:extLst>
          </p:cNvPr>
          <p:cNvSpPr txBox="1"/>
          <p:nvPr/>
        </p:nvSpPr>
        <p:spPr>
          <a:xfrm>
            <a:off x="6224538" y="4851869"/>
            <a:ext cx="2807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Filter content by category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728A10-7DC2-62E7-C347-7B3F5C1C430E}"/>
              </a:ext>
            </a:extLst>
          </p:cNvPr>
          <p:cNvSpPr txBox="1"/>
          <p:nvPr/>
        </p:nvSpPr>
        <p:spPr>
          <a:xfrm>
            <a:off x="6224538" y="5159646"/>
            <a:ext cx="5859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Switch between light/dark mode for a personalized experience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1A937-342D-3B7B-E343-095CC788B167}"/>
              </a:ext>
            </a:extLst>
          </p:cNvPr>
          <p:cNvSpPr txBox="1"/>
          <p:nvPr/>
        </p:nvSpPr>
        <p:spPr>
          <a:xfrm>
            <a:off x="6224538" y="5467423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Like &amp; Commenting on pins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DA21A937-342D-3B7B-E343-095CC788B167}"/>
              </a:ext>
            </a:extLst>
          </p:cNvPr>
          <p:cNvSpPr txBox="1"/>
          <p:nvPr/>
        </p:nvSpPr>
        <p:spPr>
          <a:xfrm>
            <a:off x="6224538" y="5787824"/>
            <a:ext cx="3884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consolata" pitchFamily="1" charset="0"/>
                <a:ea typeface="Inconsolata" pitchFamily="1" charset="0"/>
              </a:rPr>
              <a:t>Earn coins through likes on their post</a:t>
            </a:r>
          </a:p>
        </p:txBody>
      </p:sp>
    </p:spTree>
    <p:extLst>
      <p:ext uri="{BB962C8B-B14F-4D97-AF65-F5344CB8AC3E}">
        <p14:creationId xmlns:p14="http://schemas.microsoft.com/office/powerpoint/2010/main" val="40857025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8F7DC42-22BB-BF98-D40D-D145C6F564E7}"/>
              </a:ext>
            </a:extLst>
          </p:cNvPr>
          <p:cNvSpPr/>
          <p:nvPr/>
        </p:nvSpPr>
        <p:spPr>
          <a:xfrm>
            <a:off x="643888" y="583588"/>
            <a:ext cx="9173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 Used &amp; Benefits</a:t>
            </a:r>
            <a:endParaRPr lang="en-US" sz="4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44691A-A073-C842-23D9-9286577108CD}"/>
              </a:ext>
            </a:extLst>
          </p:cNvPr>
          <p:cNvSpPr/>
          <p:nvPr/>
        </p:nvSpPr>
        <p:spPr>
          <a:xfrm>
            <a:off x="673868" y="2042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0956B80-D8ED-9250-B0D5-876465934DA8}"/>
              </a:ext>
            </a:extLst>
          </p:cNvPr>
          <p:cNvSpPr/>
          <p:nvPr/>
        </p:nvSpPr>
        <p:spPr>
          <a:xfrm>
            <a:off x="6096000" y="2042391"/>
            <a:ext cx="3320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Benefits of </a:t>
            </a:r>
            <a:r>
              <a:rPr lang="en-US" sz="20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Imagera</a:t>
            </a:r>
            <a:endParaRPr lang="en-US" sz="2000" dirty="0"/>
          </a:p>
        </p:txBody>
      </p:sp>
      <p:pic>
        <p:nvPicPr>
          <p:cNvPr id="1026" name="Picture 2" descr="React Js Logo PNGs for Free Download">
            <a:extLst>
              <a:ext uri="{FF2B5EF4-FFF2-40B4-BE49-F238E27FC236}">
                <a16:creationId xmlns:a16="http://schemas.microsoft.com/office/drawing/2014/main" id="{D16C16D0-ED2C-1121-3B73-B7332C689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78" y="2396721"/>
            <a:ext cx="842103" cy="76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ailwind CSS">
            <a:extLst>
              <a:ext uri="{FF2B5EF4-FFF2-40B4-BE49-F238E27FC236}">
                <a16:creationId xmlns:a16="http://schemas.microsoft.com/office/drawing/2014/main" id="{D75E7E9A-727D-AD01-D749-0E90AECC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1" y="3217142"/>
            <a:ext cx="609175" cy="60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e Content Operating System | Sanity">
            <a:extLst>
              <a:ext uri="{FF2B5EF4-FFF2-40B4-BE49-F238E27FC236}">
                <a16:creationId xmlns:a16="http://schemas.microsoft.com/office/drawing/2014/main" id="{4007B3BD-9621-9B06-EECD-E562D51F6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1" y="4013617"/>
            <a:ext cx="604603" cy="60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25997DD-3CA5-9427-5C57-DACA3F1F1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18" y="4813606"/>
            <a:ext cx="675807" cy="67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63E0E5-8B01-C96F-14AE-C0ED89AFE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591780"/>
            <a:ext cx="376518" cy="376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7DCE2C-1BD7-2A45-749C-F2E6CECE0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080456"/>
            <a:ext cx="376518" cy="376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D493E6-362B-8971-48B9-C36DF1C44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599104"/>
            <a:ext cx="376518" cy="376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F26A06-0193-F02B-DB04-7B8266DC8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380" y="4116510"/>
            <a:ext cx="376518" cy="3765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2A7635-4260-4BDA-9D20-AF9CECF64E45}"/>
              </a:ext>
            </a:extLst>
          </p:cNvPr>
          <p:cNvSpPr txBox="1"/>
          <p:nvPr/>
        </p:nvSpPr>
        <p:spPr>
          <a:xfrm>
            <a:off x="1512644" y="2458663"/>
            <a:ext cx="1217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React.js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sz="1400" dirty="0">
                <a:latin typeface="Inconsolata" pitchFamily="1" charset="0"/>
                <a:ea typeface="Inconsolata" pitchFamily="1" charset="0"/>
              </a:rPr>
              <a:t>Frontend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D6585-FE21-AC5D-4B85-8B2F54FB861A}"/>
              </a:ext>
            </a:extLst>
          </p:cNvPr>
          <p:cNvSpPr txBox="1"/>
          <p:nvPr/>
        </p:nvSpPr>
        <p:spPr>
          <a:xfrm>
            <a:off x="1500981" y="3215366"/>
            <a:ext cx="16105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Tailwind </a:t>
            </a:r>
            <a:r>
              <a:rPr lang="en-US" sz="1600" dirty="0" err="1">
                <a:latin typeface="Arial Black" panose="020B0A04020102020204" pitchFamily="34" charset="0"/>
              </a:rPr>
              <a:t>Css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400" dirty="0">
                <a:latin typeface="Inconsolata" pitchFamily="1" charset="0"/>
                <a:ea typeface="Inconsolata" pitchFamily="1" charset="0"/>
              </a:rPr>
              <a:t>Styling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B1E3A0-DC3E-8530-1BAB-7723CD99F54C}"/>
              </a:ext>
            </a:extLst>
          </p:cNvPr>
          <p:cNvSpPr txBox="1"/>
          <p:nvPr/>
        </p:nvSpPr>
        <p:spPr>
          <a:xfrm>
            <a:off x="1512644" y="4042193"/>
            <a:ext cx="11721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Sanity.io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400" dirty="0">
                <a:latin typeface="Inconsolata" pitchFamily="1" charset="0"/>
                <a:ea typeface="Inconsolata" pitchFamily="1" charset="0"/>
              </a:rPr>
              <a:t>Backend CMS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19026-50E1-1169-92A1-91912CF7CABC}"/>
              </a:ext>
            </a:extLst>
          </p:cNvPr>
          <p:cNvSpPr txBox="1"/>
          <p:nvPr/>
        </p:nvSpPr>
        <p:spPr>
          <a:xfrm>
            <a:off x="1512644" y="494272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Secure User Authentication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5D305-1899-13F3-46E6-FC44D3723C8B}"/>
              </a:ext>
            </a:extLst>
          </p:cNvPr>
          <p:cNvSpPr txBox="1"/>
          <p:nvPr/>
        </p:nvSpPr>
        <p:spPr>
          <a:xfrm>
            <a:off x="6490742" y="2636750"/>
            <a:ext cx="2967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Modern and clean user interface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6718F-5710-B0E5-19A3-0C7CCC86AAD1}"/>
              </a:ext>
            </a:extLst>
          </p:cNvPr>
          <p:cNvSpPr txBox="1"/>
          <p:nvPr/>
        </p:nvSpPr>
        <p:spPr>
          <a:xfrm>
            <a:off x="6490742" y="3125426"/>
            <a:ext cx="2967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Fast and responsive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138A1B-57FB-368B-D135-8168D674843D}"/>
              </a:ext>
            </a:extLst>
          </p:cNvPr>
          <p:cNvSpPr txBox="1"/>
          <p:nvPr/>
        </p:nvSpPr>
        <p:spPr>
          <a:xfrm>
            <a:off x="6475753" y="3554134"/>
            <a:ext cx="4053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Cloud-based content management with real-time updates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F0637B-DFF6-C850-7FF3-2959623B2564}"/>
              </a:ext>
            </a:extLst>
          </p:cNvPr>
          <p:cNvSpPr txBox="1"/>
          <p:nvPr/>
        </p:nvSpPr>
        <p:spPr>
          <a:xfrm>
            <a:off x="6475752" y="4176470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Dark/light theme switching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6976CBF-0AFC-3B81-E8B0-77BEB5C2A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689831"/>
            <a:ext cx="376518" cy="3765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E45B364-51A5-1EF0-9164-C841C5AD574A}"/>
              </a:ext>
            </a:extLst>
          </p:cNvPr>
          <p:cNvSpPr txBox="1"/>
          <p:nvPr/>
        </p:nvSpPr>
        <p:spPr>
          <a:xfrm>
            <a:off x="6460762" y="4629871"/>
            <a:ext cx="3326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consolata" pitchFamily="1" charset="0"/>
                <a:ea typeface="Inconsolata" pitchFamily="1" charset="0"/>
              </a:rPr>
              <a:t>Easily Scalable for future features</a:t>
            </a:r>
            <a:br>
              <a:rPr lang="en-US" sz="1400" dirty="0">
                <a:latin typeface="Inconsolata" pitchFamily="1" charset="0"/>
                <a:ea typeface="Inconsolata" pitchFamily="1" charset="0"/>
              </a:rPr>
            </a:br>
            <a:r>
              <a:rPr lang="en-US" sz="1400" dirty="0">
                <a:latin typeface="Inconsolata" pitchFamily="1" charset="0"/>
                <a:ea typeface="Inconsolata" pitchFamily="1" charset="0"/>
              </a:rPr>
              <a:t>(e.g. Modern Dashboard, Collection)</a:t>
            </a:r>
          </a:p>
        </p:txBody>
      </p:sp>
    </p:spTree>
    <p:extLst>
      <p:ext uri="{BB962C8B-B14F-4D97-AF65-F5344CB8AC3E}">
        <p14:creationId xmlns:p14="http://schemas.microsoft.com/office/powerpoint/2010/main" val="35729398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55C8C7C-A348-530C-9349-D8F993D48FD1}"/>
              </a:ext>
            </a:extLst>
          </p:cNvPr>
          <p:cNvSpPr/>
          <p:nvPr/>
        </p:nvSpPr>
        <p:spPr>
          <a:xfrm>
            <a:off x="748819" y="6365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</a:t>
            </a:r>
            <a:endParaRPr lang="en-US" sz="4000" dirty="0"/>
          </a:p>
        </p:txBody>
      </p:sp>
      <p:pic>
        <p:nvPicPr>
          <p:cNvPr id="7" name="Graphic 6" descr="Checklist with solid fill">
            <a:extLst>
              <a:ext uri="{FF2B5EF4-FFF2-40B4-BE49-F238E27FC236}">
                <a16:creationId xmlns:a16="http://schemas.microsoft.com/office/drawing/2014/main" id="{088695D1-EC06-C2E8-6FAE-97FD9BF2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19" y="1892509"/>
            <a:ext cx="457200" cy="457200"/>
          </a:xfrm>
          <a:prstGeom prst="rect">
            <a:avLst/>
          </a:prstGeom>
        </p:spPr>
      </p:pic>
      <p:pic>
        <p:nvPicPr>
          <p:cNvPr id="8" name="Graphic 7" descr="Checklist with solid fill">
            <a:extLst>
              <a:ext uri="{FF2B5EF4-FFF2-40B4-BE49-F238E27FC236}">
                <a16:creationId xmlns:a16="http://schemas.microsoft.com/office/drawing/2014/main" id="{1158017C-80F6-25B0-57AF-0EC9EA1BA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19" y="2653183"/>
            <a:ext cx="457200" cy="457200"/>
          </a:xfrm>
          <a:prstGeom prst="rect">
            <a:avLst/>
          </a:prstGeom>
        </p:spPr>
      </p:pic>
      <p:pic>
        <p:nvPicPr>
          <p:cNvPr id="9" name="Graphic 8" descr="Checklist with solid fill">
            <a:extLst>
              <a:ext uri="{FF2B5EF4-FFF2-40B4-BE49-F238E27FC236}">
                <a16:creationId xmlns:a16="http://schemas.microsoft.com/office/drawing/2014/main" id="{D203A3F5-C594-A07A-4668-F64E43008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19" y="3413857"/>
            <a:ext cx="457200" cy="457200"/>
          </a:xfrm>
          <a:prstGeom prst="rect">
            <a:avLst/>
          </a:prstGeom>
        </p:spPr>
      </p:pic>
      <p:pic>
        <p:nvPicPr>
          <p:cNvPr id="10" name="Graphic 9" descr="Checklist with solid fill">
            <a:extLst>
              <a:ext uri="{FF2B5EF4-FFF2-40B4-BE49-F238E27FC236}">
                <a16:creationId xmlns:a16="http://schemas.microsoft.com/office/drawing/2014/main" id="{8322069E-9F39-5B69-9A95-4511DF15F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19" y="5534814"/>
            <a:ext cx="457200" cy="457200"/>
          </a:xfrm>
          <a:prstGeom prst="rect">
            <a:avLst/>
          </a:prstGeom>
        </p:spPr>
      </p:pic>
      <p:pic>
        <p:nvPicPr>
          <p:cNvPr id="11" name="Graphic 10" descr="Checklist with solid fill">
            <a:extLst>
              <a:ext uri="{FF2B5EF4-FFF2-40B4-BE49-F238E27FC236}">
                <a16:creationId xmlns:a16="http://schemas.microsoft.com/office/drawing/2014/main" id="{C8D9F9BE-F360-883B-C434-674D64B6A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19" y="4174531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B5347F-8213-B1AD-2321-9316675F9D00}"/>
              </a:ext>
            </a:extLst>
          </p:cNvPr>
          <p:cNvSpPr txBox="1"/>
          <p:nvPr/>
        </p:nvSpPr>
        <p:spPr>
          <a:xfrm>
            <a:off x="1334125" y="1832549"/>
            <a:ext cx="605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Pin Upload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Users can upload images (pins) with titles, categories, and descriptions.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61DE3-9245-8D5F-98A5-CEE74200894F}"/>
              </a:ext>
            </a:extLst>
          </p:cNvPr>
          <p:cNvSpPr txBox="1"/>
          <p:nvPr/>
        </p:nvSpPr>
        <p:spPr>
          <a:xfrm>
            <a:off x="1334126" y="2578233"/>
            <a:ext cx="5577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Category Filtering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Pins are organized and filtered by categories for easier discovery.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22684-CD8F-A2FE-75B4-B31859C557E5}"/>
              </a:ext>
            </a:extLst>
          </p:cNvPr>
          <p:cNvSpPr txBox="1"/>
          <p:nvPr/>
        </p:nvSpPr>
        <p:spPr>
          <a:xfrm>
            <a:off x="1334125" y="3339060"/>
            <a:ext cx="5353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Save &amp; Like Pins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Users can save and like posts they enjoy for quick access later.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1C14E-A85B-7FC7-7DB6-8AEB1BB1B013}"/>
              </a:ext>
            </a:extLst>
          </p:cNvPr>
          <p:cNvSpPr txBox="1"/>
          <p:nvPr/>
        </p:nvSpPr>
        <p:spPr>
          <a:xfrm>
            <a:off x="1319135" y="4099581"/>
            <a:ext cx="4830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Commenting System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Interactive commenting allows engagement on each pin.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2A268-3762-8F2D-13DE-210175245454}"/>
              </a:ext>
            </a:extLst>
          </p:cNvPr>
          <p:cNvSpPr txBox="1"/>
          <p:nvPr/>
        </p:nvSpPr>
        <p:spPr>
          <a:xfrm>
            <a:off x="1319136" y="5489844"/>
            <a:ext cx="6329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Dark Mode &amp; Responsive UI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Switch between light/dark themes; fully optimized for mobile and desktop.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pic>
        <p:nvPicPr>
          <p:cNvPr id="2" name="Graphic 1" descr="Checklist with solid fill">
            <a:extLst>
              <a:ext uri="{FF2B5EF4-FFF2-40B4-BE49-F238E27FC236}">
                <a16:creationId xmlns:a16="http://schemas.microsoft.com/office/drawing/2014/main" id="{C174506E-C161-A831-D03A-0CCA249F2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328" y="4877753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BF9C97-3F0B-6093-91C0-02DF45DFAE0A}"/>
              </a:ext>
            </a:extLst>
          </p:cNvPr>
          <p:cNvSpPr txBox="1"/>
          <p:nvPr/>
        </p:nvSpPr>
        <p:spPr>
          <a:xfrm>
            <a:off x="1306645" y="4832783"/>
            <a:ext cx="3491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Reward System</a:t>
            </a:r>
            <a:br>
              <a:rPr lang="en-US" sz="1600" dirty="0">
                <a:latin typeface="Arial Black" panose="020B0A04020102020204" pitchFamily="34" charset="0"/>
              </a:rPr>
            </a:br>
            <a:r>
              <a:rPr lang="en-US" sz="1600" dirty="0"/>
              <a:t>Earn coins through like earned on post</a:t>
            </a:r>
          </a:p>
        </p:txBody>
      </p:sp>
    </p:spTree>
    <p:extLst>
      <p:ext uri="{BB962C8B-B14F-4D97-AF65-F5344CB8AC3E}">
        <p14:creationId xmlns:p14="http://schemas.microsoft.com/office/powerpoint/2010/main" val="266237480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9E91878-3CCA-C699-7378-C94467DED5A9}"/>
              </a:ext>
            </a:extLst>
          </p:cNvPr>
          <p:cNvSpPr/>
          <p:nvPr/>
        </p:nvSpPr>
        <p:spPr>
          <a:xfrm>
            <a:off x="643888" y="435883"/>
            <a:ext cx="70963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Workflow of </a:t>
            </a:r>
            <a:r>
              <a:rPr lang="en-US" sz="40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Imagera</a:t>
            </a:r>
            <a:endParaRPr lang="en-US" sz="4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C431F5B-9794-96C1-D7C0-3159A53F90EF}"/>
              </a:ext>
            </a:extLst>
          </p:cNvPr>
          <p:cNvSpPr/>
          <p:nvPr/>
        </p:nvSpPr>
        <p:spPr>
          <a:xfrm>
            <a:off x="2163092" y="16366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Process Flow</a:t>
            </a:r>
            <a:endParaRPr lang="en-US" sz="2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59DDC47-46E8-87E7-B6C0-828E11E9D62A}"/>
              </a:ext>
            </a:extLst>
          </p:cNvPr>
          <p:cNvSpPr/>
          <p:nvPr/>
        </p:nvSpPr>
        <p:spPr>
          <a:xfrm>
            <a:off x="2148102" y="4112823"/>
            <a:ext cx="3130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 Process Flow</a:t>
            </a:r>
            <a:endParaRPr lang="en-US" sz="2200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1088EAF5-12C6-FDF1-D39E-907256990CD6}"/>
              </a:ext>
            </a:extLst>
          </p:cNvPr>
          <p:cNvSpPr/>
          <p:nvPr/>
        </p:nvSpPr>
        <p:spPr>
          <a:xfrm rot="5400000">
            <a:off x="-143097" y="2330970"/>
            <a:ext cx="2653261" cy="1079292"/>
          </a:xfrm>
          <a:prstGeom prst="chevro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6ED0D-F81C-CBE2-498F-E03E9749C460}"/>
              </a:ext>
            </a:extLst>
          </p:cNvPr>
          <p:cNvSpPr txBox="1"/>
          <p:nvPr/>
        </p:nvSpPr>
        <p:spPr>
          <a:xfrm>
            <a:off x="944381" y="2623279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DAD2FD58-5E68-2D54-1B42-C8D7A7EE2285}"/>
              </a:ext>
            </a:extLst>
          </p:cNvPr>
          <p:cNvSpPr/>
          <p:nvPr/>
        </p:nvSpPr>
        <p:spPr>
          <a:xfrm rot="5400000">
            <a:off x="-143098" y="4724702"/>
            <a:ext cx="2653261" cy="1079292"/>
          </a:xfrm>
          <a:prstGeom prst="chevro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29BDF-CFB7-9E5F-9AF0-0D88C1112DFA}"/>
              </a:ext>
            </a:extLst>
          </p:cNvPr>
          <p:cNvSpPr txBox="1"/>
          <p:nvPr/>
        </p:nvSpPr>
        <p:spPr>
          <a:xfrm>
            <a:off x="961871" y="497923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49C87E-DA79-3AC9-C6FE-5543305B11B8}"/>
              </a:ext>
            </a:extLst>
          </p:cNvPr>
          <p:cNvSpPr txBox="1"/>
          <p:nvPr/>
        </p:nvSpPr>
        <p:spPr>
          <a:xfrm>
            <a:off x="2088142" y="1991022"/>
            <a:ext cx="46858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itchFamily="1" charset="0"/>
                <a:ea typeface="Inconsolata" pitchFamily="1" charset="0"/>
              </a:rPr>
              <a:t>1. User Signs in with Google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2. Browses or Searches pins by category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3. Uploads new pins with title, image &amp;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   description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4. Saves and like pins they like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5. Comments on other’s posts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6. Request for redeem coins they earned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D4FFF-9CDB-5F84-73B2-67CEED4FC97E}"/>
              </a:ext>
            </a:extLst>
          </p:cNvPr>
          <p:cNvSpPr txBox="1"/>
          <p:nvPr/>
        </p:nvSpPr>
        <p:spPr>
          <a:xfrm>
            <a:off x="2073152" y="4601979"/>
            <a:ext cx="37625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itchFamily="1" charset="0"/>
                <a:ea typeface="Inconsolata" pitchFamily="1" charset="0"/>
              </a:rPr>
              <a:t>1. Reviews User posted pins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2. Manage pins posted by users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3. Manage Users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4. Remove Inappropriate content</a:t>
            </a:r>
            <a:br>
              <a:rPr lang="en-US" dirty="0">
                <a:latin typeface="Inconsolata" pitchFamily="1" charset="0"/>
                <a:ea typeface="Inconsolata" pitchFamily="1" charset="0"/>
              </a:rPr>
            </a:br>
            <a:r>
              <a:rPr lang="en-US" dirty="0">
                <a:latin typeface="Inconsolata" pitchFamily="1" charset="0"/>
                <a:ea typeface="Inconsolata" pitchFamily="1" charset="0"/>
              </a:rPr>
              <a:t>5. Manage Redeem-Requests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39001-4A76-4EA9-BB84-42E6089B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040" y="0"/>
            <a:ext cx="5417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905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B97341-7665-87D6-C4B1-7FFD4446ADD5}"/>
              </a:ext>
            </a:extLst>
          </p:cNvPr>
          <p:cNvSpPr txBox="1"/>
          <p:nvPr/>
        </p:nvSpPr>
        <p:spPr>
          <a:xfrm>
            <a:off x="2471021" y="0"/>
            <a:ext cx="7315200" cy="779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1617"/>
                </a:solidFill>
                <a:effectLst/>
                <a:uLnTx/>
                <a:uFillTx/>
                <a:latin typeface="Montserrat Black" pitchFamily="34" charset="0"/>
                <a:ea typeface="+mn-ea"/>
                <a:cs typeface="+mn-cs"/>
              </a:rPr>
              <a:t>DFD(DATA FLOW DIAGRAM)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DD9E4-C463-F62D-D6D9-997C50727D63}"/>
              </a:ext>
            </a:extLst>
          </p:cNvPr>
          <p:cNvSpPr txBox="1"/>
          <p:nvPr/>
        </p:nvSpPr>
        <p:spPr>
          <a:xfrm>
            <a:off x="3684832" y="852797"/>
            <a:ext cx="4822335" cy="14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Inconsolata" pitchFamily="1" charset="0"/>
                <a:ea typeface="Inconsolata" pitchFamily="1" charset="0"/>
              </a:rPr>
              <a:t>CONTEXT LEVEL DIAGRAM :</a:t>
            </a:r>
          </a:p>
          <a:p>
            <a:pPr marL="0" indent="0">
              <a:lnSpc>
                <a:spcPts val="5550"/>
              </a:lnSpc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10935-AEAE-C34C-E432-8969F848D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04" y="2262798"/>
            <a:ext cx="9906391" cy="360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9426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1AC84-2BA7-A523-066D-E16FA9FC8BB5}"/>
              </a:ext>
            </a:extLst>
          </p:cNvPr>
          <p:cNvSpPr txBox="1"/>
          <p:nvPr/>
        </p:nvSpPr>
        <p:spPr>
          <a:xfrm>
            <a:off x="-66043" y="0"/>
            <a:ext cx="5102738" cy="146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1617"/>
                </a:solidFill>
                <a:effectLst/>
                <a:uLnTx/>
                <a:uFillTx/>
                <a:latin typeface="Montserrat Black" pitchFamily="34" charset="0"/>
                <a:ea typeface="+mn-ea"/>
                <a:cs typeface="+mn-cs"/>
              </a:rPr>
              <a:t>DFD(DATA FLOW DIAGRAM)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7542A-81BC-8F31-9F77-F04B269CA594}"/>
              </a:ext>
            </a:extLst>
          </p:cNvPr>
          <p:cNvSpPr txBox="1"/>
          <p:nvPr/>
        </p:nvSpPr>
        <p:spPr>
          <a:xfrm>
            <a:off x="-66043" y="1888781"/>
            <a:ext cx="4312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FIRST LEVEL DFD: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5D7D0C-645F-6DA0-99BF-FF59C9C77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508" y="0"/>
            <a:ext cx="6870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8092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D552BF-38A0-A7F4-D806-45027215B08F}"/>
              </a:ext>
            </a:extLst>
          </p:cNvPr>
          <p:cNvSpPr txBox="1"/>
          <p:nvPr/>
        </p:nvSpPr>
        <p:spPr>
          <a:xfrm>
            <a:off x="2480328" y="0"/>
            <a:ext cx="7231341" cy="75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1617"/>
                </a:solidFill>
                <a:effectLst/>
                <a:uLnTx/>
                <a:uFillTx/>
                <a:latin typeface="Montserrat Black" pitchFamily="34" charset="0"/>
                <a:ea typeface="+mn-ea"/>
                <a:cs typeface="+mn-cs"/>
              </a:rPr>
              <a:t>DFD(DATA FLOW DIAGRAM)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1BD4E-E36B-E1DA-7CAB-7118D82B7664}"/>
              </a:ext>
            </a:extLst>
          </p:cNvPr>
          <p:cNvSpPr txBox="1"/>
          <p:nvPr/>
        </p:nvSpPr>
        <p:spPr>
          <a:xfrm>
            <a:off x="2612511" y="751168"/>
            <a:ext cx="6966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SECOND LEVEL DFD(ADMIN SIDE):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97F22-E7E3-AA9B-8546-E4E0ACCDE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1502336"/>
            <a:ext cx="9534525" cy="507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2440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200E1-BE95-704E-ADBD-C76E21576D4A}"/>
              </a:ext>
            </a:extLst>
          </p:cNvPr>
          <p:cNvSpPr txBox="1"/>
          <p:nvPr/>
        </p:nvSpPr>
        <p:spPr>
          <a:xfrm>
            <a:off x="2279809" y="-130736"/>
            <a:ext cx="7242638" cy="75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51617"/>
                </a:solidFill>
                <a:effectLst/>
                <a:uLnTx/>
                <a:uFillTx/>
                <a:latin typeface="Montserrat Black" pitchFamily="34" charset="0"/>
                <a:ea typeface="+mn-ea"/>
                <a:cs typeface="+mn-cs"/>
              </a:rPr>
              <a:t>DFD(DATA FLOW DIAGRAM)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31F9D-3B83-F2B3-AD77-56BEE5D63446}"/>
              </a:ext>
            </a:extLst>
          </p:cNvPr>
          <p:cNvSpPr txBox="1"/>
          <p:nvPr/>
        </p:nvSpPr>
        <p:spPr>
          <a:xfrm>
            <a:off x="2519653" y="620432"/>
            <a:ext cx="685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SECOND LEVEL DFD(USER SIDE):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B1B9-0D0C-DE68-1BA2-657A5820F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046"/>
            <a:ext cx="12192000" cy="540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846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B7C3B-92C2-E939-9FB7-E13A6F855C04}"/>
              </a:ext>
            </a:extLst>
          </p:cNvPr>
          <p:cNvSpPr txBox="1"/>
          <p:nvPr/>
        </p:nvSpPr>
        <p:spPr>
          <a:xfrm>
            <a:off x="4334656" y="179881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D8C86-052E-944D-7A47-55A56D8F866B}"/>
              </a:ext>
            </a:extLst>
          </p:cNvPr>
          <p:cNvSpPr txBox="1"/>
          <p:nvPr/>
        </p:nvSpPr>
        <p:spPr>
          <a:xfrm>
            <a:off x="869430" y="1274164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1. DOCUMENT :  USER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1851F-8471-4052-19FA-07C0D1999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67" y="1877043"/>
            <a:ext cx="8025266" cy="438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9098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C3D116-2935-79E5-9A81-36B35CF5660B}"/>
              </a:ext>
            </a:extLst>
          </p:cNvPr>
          <p:cNvSpPr txBox="1"/>
          <p:nvPr/>
        </p:nvSpPr>
        <p:spPr>
          <a:xfrm>
            <a:off x="869430" y="344773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0A7D9-47F4-233C-0174-DFC8604EBEAF}"/>
              </a:ext>
            </a:extLst>
          </p:cNvPr>
          <p:cNvSpPr txBox="1"/>
          <p:nvPr/>
        </p:nvSpPr>
        <p:spPr>
          <a:xfrm>
            <a:off x="869430" y="1274164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2. DOCUMENT :  PIN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9FA756-98C8-65AB-46D7-DEA3EFC3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119" y="0"/>
            <a:ext cx="7799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165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029765-27F5-6CD4-1005-BB69EE9F00A4}"/>
              </a:ext>
            </a:extLst>
          </p:cNvPr>
          <p:cNvSpPr txBox="1"/>
          <p:nvPr/>
        </p:nvSpPr>
        <p:spPr>
          <a:xfrm>
            <a:off x="4334656" y="179881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8C83E-9358-2F14-DB4B-2CC4493312D1}"/>
              </a:ext>
            </a:extLst>
          </p:cNvPr>
          <p:cNvSpPr txBox="1"/>
          <p:nvPr/>
        </p:nvSpPr>
        <p:spPr>
          <a:xfrm>
            <a:off x="929391" y="1063838"/>
            <a:ext cx="352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3. DOCUMENT : COMMENT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126A5-4E28-2BE1-8893-81BA377F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754" y="1719221"/>
            <a:ext cx="6608491" cy="40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143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73745-773F-5D0F-540F-836C1D867487}"/>
              </a:ext>
            </a:extLst>
          </p:cNvPr>
          <p:cNvSpPr txBox="1"/>
          <p:nvPr/>
        </p:nvSpPr>
        <p:spPr>
          <a:xfrm>
            <a:off x="4334656" y="179881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D95E2-D23E-0D0C-7C94-B64D37E6949F}"/>
              </a:ext>
            </a:extLst>
          </p:cNvPr>
          <p:cNvSpPr txBox="1"/>
          <p:nvPr/>
        </p:nvSpPr>
        <p:spPr>
          <a:xfrm>
            <a:off x="929391" y="1063838"/>
            <a:ext cx="352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4. DOCUMENT : LIKE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D162F7-3A8E-D906-C06C-0E1ADF11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06" y="1855462"/>
            <a:ext cx="8640988" cy="39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745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407A44-8A7D-ABF5-6022-CC754F1EFA2F}"/>
              </a:ext>
            </a:extLst>
          </p:cNvPr>
          <p:cNvSpPr txBox="1"/>
          <p:nvPr/>
        </p:nvSpPr>
        <p:spPr>
          <a:xfrm>
            <a:off x="4334656" y="179881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05983-6DF5-A573-763C-385D87EA190D}"/>
              </a:ext>
            </a:extLst>
          </p:cNvPr>
          <p:cNvSpPr txBox="1"/>
          <p:nvPr/>
        </p:nvSpPr>
        <p:spPr>
          <a:xfrm>
            <a:off x="929391" y="1063838"/>
            <a:ext cx="352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5. DOCUMENT : SAVE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728E3-9C9A-0C93-9CC2-D20312D62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06" y="1855462"/>
            <a:ext cx="8640988" cy="39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699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B8B44F-5961-5EBA-E86E-2262EF61687B}"/>
              </a:ext>
            </a:extLst>
          </p:cNvPr>
          <p:cNvSpPr txBox="1"/>
          <p:nvPr/>
        </p:nvSpPr>
        <p:spPr>
          <a:xfrm>
            <a:off x="4334656" y="179881"/>
            <a:ext cx="352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DICTONARY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FF81B-7DFF-F7A6-1EBB-A63D108FBC2D}"/>
              </a:ext>
            </a:extLst>
          </p:cNvPr>
          <p:cNvSpPr txBox="1"/>
          <p:nvPr/>
        </p:nvSpPr>
        <p:spPr>
          <a:xfrm>
            <a:off x="929390" y="1063838"/>
            <a:ext cx="475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6. DOCUMENT : REDEEMREQUEST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32220-777A-67BF-5E64-76D795C0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0" y="1595181"/>
            <a:ext cx="10178321" cy="509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3839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FD792B-7FD7-AEAD-29B2-85075639096A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27C95-FAB6-FAD5-30C6-42062CFDF629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</p:spTree>
    <p:extLst>
      <p:ext uri="{BB962C8B-B14F-4D97-AF65-F5344CB8AC3E}">
        <p14:creationId xmlns:p14="http://schemas.microsoft.com/office/powerpoint/2010/main" val="428195782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DE107-2CFF-3E8A-1087-B43C83792E4D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E43FB-48BC-CB39-77E8-C4B1073C14ED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8FECF-E4C2-D4BA-BAE1-05006DC46307}"/>
              </a:ext>
            </a:extLst>
          </p:cNvPr>
          <p:cNvSpPr txBox="1"/>
          <p:nvPr/>
        </p:nvSpPr>
        <p:spPr>
          <a:xfrm>
            <a:off x="794479" y="1591454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LOGIN PAGE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22A663-6426-2CF1-7D7D-FA7623E44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941" y="1591454"/>
            <a:ext cx="8250580" cy="464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27790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2EA8D1-467B-E0C7-385E-622F45983CB8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7CFB0-BA9F-2AA2-BD9E-07DAD427DE7C}"/>
              </a:ext>
            </a:extLst>
          </p:cNvPr>
          <p:cNvSpPr txBox="1"/>
          <p:nvPr/>
        </p:nvSpPr>
        <p:spPr>
          <a:xfrm>
            <a:off x="50966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1A5C0-1A75-235F-FE05-D6297CBDC3CA}"/>
              </a:ext>
            </a:extLst>
          </p:cNvPr>
          <p:cNvSpPr txBox="1"/>
          <p:nvPr/>
        </p:nvSpPr>
        <p:spPr>
          <a:xfrm>
            <a:off x="509669" y="1591454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DASHBOARD OVERVIEW :</a:t>
            </a:r>
          </a:p>
        </p:txBody>
      </p:sp>
      <p:pic>
        <p:nvPicPr>
          <p:cNvPr id="2" name="Image 467">
            <a:extLst>
              <a:ext uri="{FF2B5EF4-FFF2-40B4-BE49-F238E27FC236}">
                <a16:creationId xmlns:a16="http://schemas.microsoft.com/office/drawing/2014/main" id="{305EEFA7-9D13-536C-9019-B55887506F1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8431" y="2178568"/>
            <a:ext cx="9335135" cy="41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7031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C9208D-14CC-ACE6-F6C5-AFC5BFA9CBF7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5291A-B165-A0B8-DFF8-9A11AA7C1548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488C1-4B9F-BF82-A4DC-60F1BC4E13ED}"/>
              </a:ext>
            </a:extLst>
          </p:cNvPr>
          <p:cNvSpPr txBox="1"/>
          <p:nvPr/>
        </p:nvSpPr>
        <p:spPr>
          <a:xfrm>
            <a:off x="794479" y="1591454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MANAGE USERS :</a:t>
            </a:r>
          </a:p>
        </p:txBody>
      </p:sp>
      <p:pic>
        <p:nvPicPr>
          <p:cNvPr id="2" name="Image 471">
            <a:extLst>
              <a:ext uri="{FF2B5EF4-FFF2-40B4-BE49-F238E27FC236}">
                <a16:creationId xmlns:a16="http://schemas.microsoft.com/office/drawing/2014/main" id="{54E477C6-B802-D9B5-4CC8-4667A1FC10A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4585" y="2178568"/>
            <a:ext cx="8962827" cy="441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70907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B8C9B3-59EE-C495-F034-19B352288EA2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80DF7-FC55-4724-436C-AB9168F31324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D58A6-1C06-CD78-4605-F5EEE4A828F4}"/>
              </a:ext>
            </a:extLst>
          </p:cNvPr>
          <p:cNvSpPr txBox="1"/>
          <p:nvPr/>
        </p:nvSpPr>
        <p:spPr>
          <a:xfrm>
            <a:off x="794479" y="1591454"/>
            <a:ext cx="232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MANAGE PINS :</a:t>
            </a:r>
          </a:p>
        </p:txBody>
      </p:sp>
      <p:pic>
        <p:nvPicPr>
          <p:cNvPr id="2" name="Image 468">
            <a:extLst>
              <a:ext uri="{FF2B5EF4-FFF2-40B4-BE49-F238E27FC236}">
                <a16:creationId xmlns:a16="http://schemas.microsoft.com/office/drawing/2014/main" id="{F51B24A8-5D72-2749-9101-2EA904A47BF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8207" y="2178568"/>
            <a:ext cx="8915583" cy="45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12631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9F5F4E-F90F-4390-866F-07BAF79951EC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5636A-6450-154B-EE99-7D6D44FFC8C9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ADAC1-839F-C354-3E5E-96C82CE930ED}"/>
              </a:ext>
            </a:extLst>
          </p:cNvPr>
          <p:cNvSpPr txBox="1"/>
          <p:nvPr/>
        </p:nvSpPr>
        <p:spPr>
          <a:xfrm>
            <a:off x="794479" y="1591454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MANAGE Coins 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E0A852-BFE3-C724-EDB1-7C6325CB5C70}"/>
              </a:ext>
            </a:extLst>
          </p:cNvPr>
          <p:cNvGrpSpPr>
            <a:grpSpLocks/>
          </p:cNvGrpSpPr>
          <p:nvPr/>
        </p:nvGrpSpPr>
        <p:grpSpPr>
          <a:xfrm>
            <a:off x="209862" y="2036075"/>
            <a:ext cx="11422505" cy="4709499"/>
            <a:chOff x="0" y="0"/>
            <a:chExt cx="6896100" cy="3325736"/>
          </a:xfrm>
        </p:grpSpPr>
        <p:sp>
          <p:nvSpPr>
            <p:cNvPr id="8" name="Graphic 473">
              <a:extLst>
                <a:ext uri="{FF2B5EF4-FFF2-40B4-BE49-F238E27FC236}">
                  <a16:creationId xmlns:a16="http://schemas.microsoft.com/office/drawing/2014/main" id="{622A963E-D951-F709-2DAD-5D7E00C4E60B}"/>
                </a:ext>
              </a:extLst>
            </p:cNvPr>
            <p:cNvSpPr/>
            <p:nvPr/>
          </p:nvSpPr>
          <p:spPr>
            <a:xfrm>
              <a:off x="0" y="3318751"/>
              <a:ext cx="6896100" cy="6985"/>
            </a:xfrm>
            <a:custGeom>
              <a:avLst/>
              <a:gdLst/>
              <a:ahLst/>
              <a:cxnLst/>
              <a:rect l="l" t="t" r="r" b="b"/>
              <a:pathLst>
                <a:path w="6896100" h="6985">
                  <a:moveTo>
                    <a:pt x="6895846" y="0"/>
                  </a:moveTo>
                  <a:lnTo>
                    <a:pt x="0" y="0"/>
                  </a:lnTo>
                  <a:lnTo>
                    <a:pt x="0" y="6400"/>
                  </a:lnTo>
                  <a:lnTo>
                    <a:pt x="6895846" y="6400"/>
                  </a:lnTo>
                  <a:lnTo>
                    <a:pt x="689584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pic>
          <p:nvPicPr>
            <p:cNvPr id="9" name="Image 474">
              <a:extLst>
                <a:ext uri="{FF2B5EF4-FFF2-40B4-BE49-F238E27FC236}">
                  <a16:creationId xmlns:a16="http://schemas.microsoft.com/office/drawing/2014/main" id="{9B429A71-2BFC-424A-1EB2-12FAE4461B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208" y="0"/>
              <a:ext cx="6153150" cy="32765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969122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943CFB-2481-D1AB-DDC6-E1F5C2DB9967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30781-8181-ACD1-869A-89485F07685E}"/>
              </a:ext>
            </a:extLst>
          </p:cNvPr>
          <p:cNvSpPr txBox="1"/>
          <p:nvPr/>
        </p:nvSpPr>
        <p:spPr>
          <a:xfrm>
            <a:off x="794479" y="100434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ADMIN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00E42-7B5F-F212-DB47-FC863EBB7F2E}"/>
              </a:ext>
            </a:extLst>
          </p:cNvPr>
          <p:cNvSpPr txBox="1"/>
          <p:nvPr/>
        </p:nvSpPr>
        <p:spPr>
          <a:xfrm>
            <a:off x="794479" y="1591454"/>
            <a:ext cx="3177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MANAGE requests :</a:t>
            </a:r>
          </a:p>
        </p:txBody>
      </p:sp>
      <p:pic>
        <p:nvPicPr>
          <p:cNvPr id="7" name="Image 476">
            <a:extLst>
              <a:ext uri="{FF2B5EF4-FFF2-40B4-BE49-F238E27FC236}">
                <a16:creationId xmlns:a16="http://schemas.microsoft.com/office/drawing/2014/main" id="{DF16658F-CC42-C7E1-235C-E7E201C5FF2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8399" y="2178568"/>
            <a:ext cx="9855200" cy="440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31885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C57E1A-7627-E881-4A17-3918DE592EF8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30BBA-3CEA-DBA9-F6AD-34BD1F206CFD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</p:spTree>
    <p:extLst>
      <p:ext uri="{BB962C8B-B14F-4D97-AF65-F5344CB8AC3E}">
        <p14:creationId xmlns:p14="http://schemas.microsoft.com/office/powerpoint/2010/main" val="80134114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C99ABA-92AC-E402-6EBE-106A5751C9D4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82FBF-92D8-5292-DA6F-EA55F611D623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7D88C-21CE-910A-0186-CBCB38D31189}"/>
              </a:ext>
            </a:extLst>
          </p:cNvPr>
          <p:cNvSpPr txBox="1"/>
          <p:nvPr/>
        </p:nvSpPr>
        <p:spPr>
          <a:xfrm>
            <a:off x="794479" y="1591454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LOGIN PAGE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406AE-B08F-1403-FBB3-0F25BBDB3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941" y="1591454"/>
            <a:ext cx="8250580" cy="464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9841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A6388-8375-BB59-2CF1-DD3A773E2D0F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1F835-8FA7-247C-F486-9A534834D677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02450-4E4F-2C22-00B2-705F3C1965E5}"/>
              </a:ext>
            </a:extLst>
          </p:cNvPr>
          <p:cNvSpPr txBox="1"/>
          <p:nvPr/>
        </p:nvSpPr>
        <p:spPr>
          <a:xfrm>
            <a:off x="794479" y="1591454"/>
            <a:ext cx="2037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lgerian" panose="04020705040A02060702" pitchFamily="82" charset="0"/>
              </a:rPr>
              <a:t>hOME</a:t>
            </a:r>
            <a:r>
              <a:rPr lang="en-US" sz="2400" dirty="0">
                <a:latin typeface="Algerian" panose="04020705040A02060702" pitchFamily="82" charset="0"/>
              </a:rPr>
              <a:t> PAGE :</a:t>
            </a:r>
          </a:p>
        </p:txBody>
      </p:sp>
      <p:pic>
        <p:nvPicPr>
          <p:cNvPr id="2" name="Image 484">
            <a:extLst>
              <a:ext uri="{FF2B5EF4-FFF2-40B4-BE49-F238E27FC236}">
                <a16:creationId xmlns:a16="http://schemas.microsoft.com/office/drawing/2014/main" id="{5CFFFF86-C6B6-B607-2B37-2652AB4798D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972" y="2178568"/>
            <a:ext cx="9310053" cy="45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4236"/>
      </p:ext>
    </p:extLst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42CDE0-C6FA-7748-0D39-0CD97AE35DAF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B928E-2CA5-A9D0-0860-A60AE7357DD0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9DB6C-691A-D855-39B9-72B3AD7EC01F}"/>
              </a:ext>
            </a:extLst>
          </p:cNvPr>
          <p:cNvSpPr txBox="1"/>
          <p:nvPr/>
        </p:nvSpPr>
        <p:spPr>
          <a:xfrm>
            <a:off x="794479" y="1591454"/>
            <a:ext cx="3847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User dashboard PAGE :</a:t>
            </a:r>
          </a:p>
        </p:txBody>
      </p:sp>
      <p:pic>
        <p:nvPicPr>
          <p:cNvPr id="7" name="Image 477">
            <a:extLst>
              <a:ext uri="{FF2B5EF4-FFF2-40B4-BE49-F238E27FC236}">
                <a16:creationId xmlns:a16="http://schemas.microsoft.com/office/drawing/2014/main" id="{D8A8BB42-696D-2D10-F3EA-F1C4292B302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2685" y="2053119"/>
            <a:ext cx="9886627" cy="470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94717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AB4C36-B0CD-27F5-1B9D-67D71A68CE4A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72CEB-5410-181A-0287-95B1CA2888D3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8F7B6-CCB3-FFA1-3C9C-2F18DB9D23DB}"/>
              </a:ext>
            </a:extLst>
          </p:cNvPr>
          <p:cNvSpPr txBox="1"/>
          <p:nvPr/>
        </p:nvSpPr>
        <p:spPr>
          <a:xfrm>
            <a:off x="794479" y="1591454"/>
            <a:ext cx="2385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UPLOAD PAGE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FBC37-E085-47DF-88A5-80987308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932" y="2178568"/>
            <a:ext cx="9348134" cy="451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81254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88EE99-3366-43F2-DF3C-CCAE5076D907}"/>
              </a:ext>
            </a:extLst>
          </p:cNvPr>
          <p:cNvSpPr txBox="1"/>
          <p:nvPr/>
        </p:nvSpPr>
        <p:spPr>
          <a:xfrm>
            <a:off x="4574589" y="269823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OUTPUT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BDF8B-7100-75F6-57A3-BB9B090890C4}"/>
              </a:ext>
            </a:extLst>
          </p:cNvPr>
          <p:cNvSpPr txBox="1"/>
          <p:nvPr/>
        </p:nvSpPr>
        <p:spPr>
          <a:xfrm>
            <a:off x="794479" y="1004340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IMAGERA USER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130A7-BC00-5FA9-D3AA-E3F8B8DB8F32}"/>
              </a:ext>
            </a:extLst>
          </p:cNvPr>
          <p:cNvSpPr txBox="1"/>
          <p:nvPr/>
        </p:nvSpPr>
        <p:spPr>
          <a:xfrm>
            <a:off x="794479" y="1591454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PROFILE PAGE :</a:t>
            </a:r>
          </a:p>
        </p:txBody>
      </p:sp>
      <p:pic>
        <p:nvPicPr>
          <p:cNvPr id="2" name="Image 487">
            <a:extLst>
              <a:ext uri="{FF2B5EF4-FFF2-40B4-BE49-F238E27FC236}">
                <a16:creationId xmlns:a16="http://schemas.microsoft.com/office/drawing/2014/main" id="{65B4D98D-DAC4-1561-AD2F-8BB00485FC6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2354" y="2053119"/>
            <a:ext cx="10107290" cy="472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61170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A0D45-43C3-4553-3375-14E90286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9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CA8AC-43A6-C42C-0E52-CAB005F240AA}"/>
              </a:ext>
            </a:extLst>
          </p:cNvPr>
          <p:cNvSpPr txBox="1"/>
          <p:nvPr/>
        </p:nvSpPr>
        <p:spPr>
          <a:xfrm>
            <a:off x="4796157" y="464696"/>
            <a:ext cx="2599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EFB6B97C-5A4D-9060-3716-7020E1EC0ADA}"/>
              </a:ext>
            </a:extLst>
          </p:cNvPr>
          <p:cNvSpPr/>
          <p:nvPr/>
        </p:nvSpPr>
        <p:spPr>
          <a:xfrm>
            <a:off x="719528" y="1558977"/>
            <a:ext cx="10732957" cy="4527030"/>
          </a:xfrm>
          <a:prstGeom prst="round2Diag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91D1AFD-9591-FA28-F7C7-32AA36D6840D}"/>
              </a:ext>
            </a:extLst>
          </p:cNvPr>
          <p:cNvSpPr/>
          <p:nvPr/>
        </p:nvSpPr>
        <p:spPr>
          <a:xfrm>
            <a:off x="1228503" y="2133832"/>
            <a:ext cx="95266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 extend our sincere gratitude to everyone.</a:t>
            </a:r>
            <a:endParaRPr lang="en-US" sz="17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9DC0C20D-2828-5384-13E6-72A35621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2" y="2751886"/>
            <a:ext cx="566976" cy="566976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3048FBAA-AC69-67F5-558B-C1ACB0B5B5BF}"/>
              </a:ext>
            </a:extLst>
          </p:cNvPr>
          <p:cNvSpPr/>
          <p:nvPr/>
        </p:nvSpPr>
        <p:spPr>
          <a:xfrm>
            <a:off x="1228502" y="35456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Group Members: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E70C016-79CF-2090-EBAD-23FBE363D7B4}"/>
              </a:ext>
            </a:extLst>
          </p:cNvPr>
          <p:cNvSpPr/>
          <p:nvPr/>
        </p:nvSpPr>
        <p:spPr>
          <a:xfrm>
            <a:off x="1228502" y="4036094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Chauhan Hitarth (Exam No: ___)</a:t>
            </a:r>
            <a:endParaRPr lang="en-US" sz="17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54C79BC-77E2-B9C2-F58D-4B8B0F672318}"/>
              </a:ext>
            </a:extLst>
          </p:cNvPr>
          <p:cNvSpPr/>
          <p:nvPr/>
        </p:nvSpPr>
        <p:spPr>
          <a:xfrm>
            <a:off x="1228502" y="4478292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Savlani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Dhiren (Exam No: ___)</a:t>
            </a:r>
            <a:endParaRPr lang="en-US" sz="175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31C1A72-6EA9-D8BB-D92C-6BE95CA8E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933" y="2751886"/>
            <a:ext cx="566976" cy="566976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357848B3-32A1-9B12-CF60-D014AAF7CD21}"/>
              </a:ext>
            </a:extLst>
          </p:cNvPr>
          <p:cNvSpPr/>
          <p:nvPr/>
        </p:nvSpPr>
        <p:spPr>
          <a:xfrm>
            <a:off x="7919933" y="35456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Guide:</a:t>
            </a:r>
            <a:endParaRPr lang="en-US" sz="2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ABAC7CD-B487-A35C-314B-5A5C64E1C021}"/>
              </a:ext>
            </a:extLst>
          </p:cNvPr>
          <p:cNvSpPr/>
          <p:nvPr/>
        </p:nvSpPr>
        <p:spPr>
          <a:xfrm>
            <a:off x="7919933" y="4036094"/>
            <a:ext cx="283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RASHMIKABEN MEMON</a:t>
            </a:r>
            <a:endParaRPr lang="en-US" sz="17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7A11240-4637-F498-7901-243BF9CB5A3B}"/>
              </a:ext>
            </a:extLst>
          </p:cNvPr>
          <p:cNvSpPr/>
          <p:nvPr/>
        </p:nvSpPr>
        <p:spPr>
          <a:xfrm>
            <a:off x="1228502" y="50963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Also appreciation to our knowledgeable project guide.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9593015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Parce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339</TotalTime>
  <Words>828</Words>
  <Application>Microsoft Office PowerPoint</Application>
  <PresentationFormat>Widescreen</PresentationFormat>
  <Paragraphs>140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Algerian</vt:lpstr>
      <vt:lpstr>Arial</vt:lpstr>
      <vt:lpstr>Arial Black</vt:lpstr>
      <vt:lpstr>Calibri</vt:lpstr>
      <vt:lpstr>Gill Sans MT</vt:lpstr>
      <vt:lpstr>Inconsolata</vt:lpstr>
      <vt:lpstr>Montserrat Black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Hitarth Chauhan</dc:creator>
  <cp:lastModifiedBy>Hitarth Chauhan</cp:lastModifiedBy>
  <cp:revision>17</cp:revision>
  <dcterms:created xsi:type="dcterms:W3CDTF">2025-07-09T08:52:15Z</dcterms:created>
  <dcterms:modified xsi:type="dcterms:W3CDTF">2025-07-24T11:10:17Z</dcterms:modified>
</cp:coreProperties>
</file>